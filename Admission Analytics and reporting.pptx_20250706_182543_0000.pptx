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Aharoni" panose="02010803020104030203" pitchFamily="2" charset="-79"/>
      <p:bold r:id="rId12"/>
    </p:embeddedFont>
    <p:embeddedFont>
      <p:font typeface="Archivo Black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499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708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3872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74048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54725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9358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848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" t="-454" r="-4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44802" y="1740083"/>
            <a:ext cx="14289157" cy="6806835"/>
          </a:xfrm>
          <a:custGeom>
            <a:avLst/>
            <a:gdLst/>
            <a:ahLst/>
            <a:cxnLst/>
            <a:rect l="l" t="t" r="r" b="b"/>
            <a:pathLst>
              <a:path w="14289157" h="6806835">
                <a:moveTo>
                  <a:pt x="0" y="0"/>
                </a:moveTo>
                <a:lnTo>
                  <a:pt x="14289156" y="0"/>
                </a:lnTo>
                <a:lnTo>
                  <a:pt x="14289156" y="6806834"/>
                </a:lnTo>
                <a:lnTo>
                  <a:pt x="0" y="6806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4" name="TextBox 4"/>
          <p:cNvSpPr txBox="1"/>
          <p:nvPr/>
        </p:nvSpPr>
        <p:spPr>
          <a:xfrm>
            <a:off x="3176406" y="3055063"/>
            <a:ext cx="12561059" cy="376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 dirty="0">
                <a:solidFill>
                  <a:srgbClr val="FF0000"/>
                </a:solidFill>
                <a:latin typeface="Aharoni" panose="02010803020104030203" pitchFamily="2" charset="-79"/>
                <a:ea typeface="Archivo Black"/>
                <a:cs typeface="Aharoni" panose="02010803020104030203" pitchFamily="2" charset="-79"/>
                <a:sym typeface="Archivo Black"/>
              </a:rPr>
              <a:t>ADMISSION ANALYTICS</a:t>
            </a:r>
          </a:p>
          <a:p>
            <a:pPr algn="ctr">
              <a:lnSpc>
                <a:spcPts val="10049"/>
              </a:lnSpc>
            </a:pPr>
            <a:r>
              <a:rPr lang="en-US" sz="7178" b="1" dirty="0">
                <a:solidFill>
                  <a:srgbClr val="FF0000"/>
                </a:solidFill>
                <a:latin typeface="Aharoni" panose="02010803020104030203" pitchFamily="2" charset="-79"/>
                <a:ea typeface="Archivo Black"/>
                <a:cs typeface="Aharoni" panose="02010803020104030203" pitchFamily="2" charset="-79"/>
                <a:sym typeface="Archivo Black"/>
              </a:rPr>
              <a:t>&amp;</a:t>
            </a:r>
          </a:p>
          <a:p>
            <a:pPr algn="ctr">
              <a:lnSpc>
                <a:spcPts val="10049"/>
              </a:lnSpc>
            </a:pPr>
            <a:r>
              <a:rPr lang="en-US" sz="7178" b="1" dirty="0">
                <a:solidFill>
                  <a:srgbClr val="FF0000"/>
                </a:solidFill>
                <a:latin typeface="Aharoni" panose="02010803020104030203" pitchFamily="2" charset="-79"/>
                <a:ea typeface="Archivo Black"/>
                <a:cs typeface="Aharoni" panose="02010803020104030203" pitchFamily="2" charset="-79"/>
                <a:sym typeface="Archivo Black"/>
              </a:rPr>
              <a:t>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93" y="0"/>
            <a:ext cx="18514003" cy="10576124"/>
          </a:xfrm>
          <a:custGeom>
            <a:avLst/>
            <a:gdLst/>
            <a:ahLst/>
            <a:cxnLst/>
            <a:rect l="l" t="t" r="r" b="b"/>
            <a:pathLst>
              <a:path w="18514003" h="10576124">
                <a:moveTo>
                  <a:pt x="0" y="0"/>
                </a:moveTo>
                <a:lnTo>
                  <a:pt x="18514003" y="0"/>
                </a:lnTo>
                <a:lnTo>
                  <a:pt x="18514003" y="10576124"/>
                </a:lnTo>
                <a:lnTo>
                  <a:pt x="0" y="10576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48069"/>
              </p:ext>
            </p:extLst>
          </p:nvPr>
        </p:nvGraphicFramePr>
        <p:xfrm>
          <a:off x="457200" y="1104900"/>
          <a:ext cx="3714970" cy="6491910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714970"/>
              </a:tblGrid>
              <a:tr h="112735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468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114216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InstituteName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</a:t>
                      </a:r>
                    </a:p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75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486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AffiliatedUniversity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63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EstablishedYear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48518"/>
              </p:ext>
            </p:extLst>
          </p:nvPr>
        </p:nvGraphicFramePr>
        <p:xfrm>
          <a:off x="10439400" y="1181100"/>
          <a:ext cx="3073400" cy="3945900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073400"/>
              </a:tblGrid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DEGREE</a:t>
                      </a:r>
                      <a:endParaRPr lang="en-US" sz="11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DegreeID</a:t>
                      </a:r>
                      <a:endParaRPr lang="en-US" sz="11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FacultyID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DegreeName</a:t>
                      </a:r>
                      <a:endParaRPr lang="en-US" sz="11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Level(UG,PG,etc)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390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0797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CreditRequirment</a:t>
                      </a:r>
                      <a:endParaRPr lang="en-US" sz="11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15816"/>
              </p:ext>
            </p:extLst>
          </p:nvPr>
        </p:nvGraphicFramePr>
        <p:xfrm>
          <a:off x="4648200" y="1104900"/>
          <a:ext cx="4807686" cy="5744024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4807686"/>
              </a:tblGrid>
              <a:tr h="1069629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FACULTY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InstituteID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70139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FacultyID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DeanName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FacultyOfficeLocation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FacultyName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76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FacultyCode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94691"/>
              </p:ext>
            </p:extLst>
          </p:nvPr>
        </p:nvGraphicFramePr>
        <p:xfrm>
          <a:off x="14249400" y="1104900"/>
          <a:ext cx="3530600" cy="6337035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530600"/>
              </a:tblGrid>
              <a:tr h="762023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62023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762023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DegreeID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62023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ProgramName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762023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Specialization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3173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IntaleCapacity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3173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AccreditationStatus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3173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3173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ProgramFee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420600" y="304800"/>
            <a:ext cx="381000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805317" y="20068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PRIMARY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63800" y="228600"/>
            <a:ext cx="381000" cy="419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4800" y="17098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FOREIGN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45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77" b="-777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5170"/>
              </p:ext>
            </p:extLst>
          </p:nvPr>
        </p:nvGraphicFramePr>
        <p:xfrm>
          <a:off x="5105400" y="876300"/>
          <a:ext cx="3937000" cy="3514761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937000"/>
              </a:tblGrid>
              <a:tr h="94508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079"/>
                        </a:lnSpc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PROGRAME FEES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5300"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FeeID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565300"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72311">
                <a:tc>
                  <a:txBody>
                    <a:bodyPr/>
                    <a:lstStyle/>
                    <a:p>
                      <a:pPr algn="ctr">
                        <a:lnSpc>
                          <a:spcPts val="40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FeeAmount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94054"/>
              </p:ext>
            </p:extLst>
          </p:nvPr>
        </p:nvGraphicFramePr>
        <p:xfrm>
          <a:off x="381000" y="266700"/>
          <a:ext cx="3606800" cy="9301485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606800"/>
              </a:tblGrid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FullName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Gender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74750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FatherName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MotherName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EmergencyContact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100275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Photo(URL)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Category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D.O.B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Address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CouponCode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288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438680"/>
              </p:ext>
            </p:extLst>
          </p:nvPr>
        </p:nvGraphicFramePr>
        <p:xfrm>
          <a:off x="10134600" y="876300"/>
          <a:ext cx="3276600" cy="5417328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276600"/>
              </a:tblGrid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ADMISSION TEST</a:t>
                      </a:r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TestID</a:t>
                      </a:r>
                      <a:endParaRPr lang="en-US" sz="11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TestType</a:t>
                      </a:r>
                      <a:endParaRPr lang="en-US" sz="11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ProgramID</a:t>
                      </a:r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MaxMarks</a:t>
                      </a:r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MinQualifyingmarks</a:t>
                      </a:r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TestDate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974174"/>
              </p:ext>
            </p:extLst>
          </p:nvPr>
        </p:nvGraphicFramePr>
        <p:xfrm>
          <a:off x="13868400" y="876300"/>
          <a:ext cx="3606800" cy="5417328"/>
        </p:xfrm>
        <a:graphic>
          <a:graphicData uri="http://schemas.openxmlformats.org/drawingml/2006/table">
            <a:tbl>
              <a:tblPr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a:tblPr>
              <a:tblGrid>
                <a:gridCol w="3606800"/>
              </a:tblGrid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FEE PAYMENT</a:t>
                      </a:r>
                      <a:endParaRPr lang="en-US" sz="11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TestPaymentID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TransactionID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41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PaymentStatus</a:t>
                      </a:r>
                      <a:endParaRPr lang="en-US" sz="11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ReceiptURL</a:t>
                      </a:r>
                      <a:endParaRPr lang="en-US" sz="2400" b="1" dirty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ctr">
                        <a:lnSpc>
                          <a:spcPts val="2879"/>
                        </a:lnSpc>
                        <a:defRPr/>
                      </a:pPr>
                      <a:endParaRPr lang="en-US" sz="11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692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039600" y="248115"/>
            <a:ext cx="381000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424317" y="14399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PRIMARY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782800" y="171915"/>
            <a:ext cx="381000" cy="419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163800" y="11430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FOREIGN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24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47" b="-747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60428"/>
              </p:ext>
            </p:extLst>
          </p:nvPr>
        </p:nvGraphicFramePr>
        <p:xfrm>
          <a:off x="533400" y="1181100"/>
          <a:ext cx="3606800" cy="798191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606800"/>
              </a:tblGrid>
              <a:tr h="69313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8806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ProgrameID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ApplicationDate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120491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Status(is verified or not)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136679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FacultyID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76472"/>
              </p:ext>
            </p:extLst>
          </p:nvPr>
        </p:nvGraphicFramePr>
        <p:xfrm>
          <a:off x="4572000" y="1257300"/>
          <a:ext cx="3606800" cy="367780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606800"/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 IN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LoginID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Role(student/Admin</a:t>
                      </a:r>
                      <a:r>
                        <a:rPr lang="en-US" sz="2400" b="1" dirty="0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ApplicantID</a:t>
                      </a:r>
                      <a:endParaRPr lang="en-US" sz="2400" b="1" dirty="0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10077"/>
              </p:ext>
            </p:extLst>
          </p:nvPr>
        </p:nvGraphicFramePr>
        <p:xfrm>
          <a:off x="8686800" y="1257300"/>
          <a:ext cx="4267200" cy="5266489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4267200"/>
              </a:tblGrid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2400" b="1" dirty="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COMPLETION STATUS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1642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16425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1642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TestID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1642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ScoreObtained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706114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 status(pass/Fail)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1642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Rank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712442"/>
              </p:ext>
            </p:extLst>
          </p:nvPr>
        </p:nvGraphicFramePr>
        <p:xfrm>
          <a:off x="13716000" y="1257300"/>
          <a:ext cx="3886200" cy="534900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886200"/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DETAILS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RegistrationID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ApplicationID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Qualification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BoardOrUniversity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Grade system(cgpa/percentage)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Percentage/CGPA</a:t>
                      </a:r>
                      <a:endParaRPr lang="en-US" sz="2400" b="1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PassingYear</a:t>
                      </a:r>
                      <a:endParaRPr lang="en-US" sz="2400" b="1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420600" y="381000"/>
            <a:ext cx="381000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805317" y="27688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PRIMARY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63800" y="304800"/>
            <a:ext cx="381000" cy="419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4800" y="24718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FOREIGN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-266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957" r="-20957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177417"/>
              </p:ext>
            </p:extLst>
          </p:nvPr>
        </p:nvGraphicFramePr>
        <p:xfrm>
          <a:off x="381000" y="342900"/>
          <a:ext cx="3606800" cy="823268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606800"/>
              </a:tblGrid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APPLICATION FEE PAYMENT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6211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TransactionID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96211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ApplicationID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6211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AmountPaid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96211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PaymentMode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194387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Payment status(Success/Fail/Pending)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96211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ReceiptURL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361763"/>
              </p:ext>
            </p:extLst>
          </p:nvPr>
        </p:nvGraphicFramePr>
        <p:xfrm>
          <a:off x="8534400" y="800100"/>
          <a:ext cx="4699000" cy="365760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4699000"/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FORM COMPLETIONS STATUS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CompletionID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ApplicationID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Status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Application form(URL)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ReceiptURL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699209"/>
              </p:ext>
            </p:extLst>
          </p:nvPr>
        </p:nvGraphicFramePr>
        <p:xfrm>
          <a:off x="13792200" y="2324100"/>
          <a:ext cx="3962400" cy="472440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962400"/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FDFFFD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DOCUMENTS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DocumentID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ApplicantD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DocumentType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File_Path(file_server)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UploadDate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595688"/>
              </p:ext>
            </p:extLst>
          </p:nvPr>
        </p:nvGraphicFramePr>
        <p:xfrm>
          <a:off x="8534400" y="4610100"/>
          <a:ext cx="4699000" cy="461528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4699000"/>
              </a:tblGrid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DFFFD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COUPONS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CouponCode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DiscountPercent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60461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IsActive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ExpiryDate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CouponID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CategoryEligibilty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57926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420600" y="248115"/>
            <a:ext cx="381000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805317" y="14399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PRIMARY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63800" y="171915"/>
            <a:ext cx="381000" cy="419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4800" y="11430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FOREIGN KEY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448871"/>
              </p:ext>
            </p:extLst>
          </p:nvPr>
        </p:nvGraphicFramePr>
        <p:xfrm>
          <a:off x="4191000" y="49226"/>
          <a:ext cx="4191000" cy="980641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4191000"/>
              </a:tblGrid>
              <a:tr h="796071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FDFFFD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Master_DOCUMENTS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MDocumentID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ApplicantID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AadharCard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10th_</a:t>
                      </a:r>
                      <a:r>
                        <a:rPr lang="en-US" sz="2400" b="1" baseline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marksheet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81531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10th_Certificate(if</a:t>
                      </a:r>
                      <a:r>
                        <a:rPr lang="en-US" sz="2400" b="1" baseline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applicable)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8153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6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12th_</a:t>
                      </a:r>
                      <a:r>
                        <a:rPr lang="en-US" sz="2400" b="1" baseline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marksheet</a:t>
                      </a:r>
                      <a:endParaRPr lang="en-US" sz="2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2640"/>
                        </a:lnSpc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11345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6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10th_Certificate(if</a:t>
                      </a:r>
                      <a:r>
                        <a:rPr lang="en-US" sz="2400" b="1" baseline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 applicable)</a:t>
                      </a:r>
                      <a:endParaRPr lang="en-US" sz="2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2640"/>
                        </a:lnSpc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Migration_certificate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Caste_certificate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81531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Domicile_certificate</a:t>
                      </a: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(if applicable)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Test_result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  <a:tr h="663393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Character_certificate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212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FF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202</Words>
  <Application>Microsoft Office PowerPoint</Application>
  <PresentationFormat>Custom</PresentationFormat>
  <Paragraphs>155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Aharoni</vt:lpstr>
      <vt:lpstr>Archivo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Admission Analytics and reporting.pptx</dc:title>
  <dc:creator>soni</dc:creator>
  <cp:lastModifiedBy>soni</cp:lastModifiedBy>
  <cp:revision>24</cp:revision>
  <dcterms:created xsi:type="dcterms:W3CDTF">2006-08-16T00:00:00Z</dcterms:created>
  <dcterms:modified xsi:type="dcterms:W3CDTF">2025-07-10T04:33:18Z</dcterms:modified>
  <dc:identifier>DAGsZKL6Hyo</dc:identifier>
</cp:coreProperties>
</file>