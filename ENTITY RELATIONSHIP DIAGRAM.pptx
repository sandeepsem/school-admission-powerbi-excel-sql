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1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5" d="100"/>
          <a:sy n="55" d="100"/>
        </p:scale>
        <p:origin x="6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8DC3-20C7-49E4-A5C5-B71389CF31B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790BC-1536-4464-8E17-2992A03C0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9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8DC3-20C7-49E4-A5C5-B71389CF31B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790BC-1536-4464-8E17-2992A03C0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81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8DC3-20C7-49E4-A5C5-B71389CF31B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790BC-1536-4464-8E17-2992A03C0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50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8DC3-20C7-49E4-A5C5-B71389CF31B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790BC-1536-4464-8E17-2992A03C0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6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8DC3-20C7-49E4-A5C5-B71389CF31B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790BC-1536-4464-8E17-2992A03C0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3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8DC3-20C7-49E4-A5C5-B71389CF31B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790BC-1536-4464-8E17-2992A03C0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39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8DC3-20C7-49E4-A5C5-B71389CF31B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790BC-1536-4464-8E17-2992A03C0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2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8DC3-20C7-49E4-A5C5-B71389CF31B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790BC-1536-4464-8E17-2992A03C0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3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8DC3-20C7-49E4-A5C5-B71389CF31B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790BC-1536-4464-8E17-2992A03C0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8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8DC3-20C7-49E4-A5C5-B71389CF31B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790BC-1536-4464-8E17-2992A03C0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88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8DC3-20C7-49E4-A5C5-B71389CF31B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790BC-1536-4464-8E17-2992A03C0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90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48DC3-20C7-49E4-A5C5-B71389CF31B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790BC-1536-4464-8E17-2992A03C0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303338"/>
            <a:ext cx="10928350" cy="2852737"/>
          </a:xfrm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sz="66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ENTITY RELATIONSHIP DIAGRAM</a:t>
            </a:r>
            <a:br>
              <a:rPr lang="en-US" sz="66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en-US" sz="66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	</a:t>
            </a:r>
            <a:r>
              <a:rPr lang="en-US" sz="66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		(ER-Diagram)</a:t>
            </a:r>
            <a:endParaRPr lang="en-US" sz="66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8854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9384" y="346363"/>
            <a:ext cx="1191489" cy="60960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>
                <a:solidFill>
                  <a:schemeClr val="tx1"/>
                </a:solidFill>
              </a:rPr>
              <a:t>INSTITUTE</a:t>
            </a:r>
          </a:p>
          <a:p>
            <a:pPr algn="ctr" fontAlgn="ctr"/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</a:rPr>
              <a:t>InstituteID</a:t>
            </a:r>
            <a:endParaRPr lang="en-US" sz="1400" b="1" dirty="0" smtClean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6449" y="277629"/>
            <a:ext cx="1316180" cy="762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FACULTY</a:t>
            </a:r>
          </a:p>
          <a:p>
            <a:pPr fontAlgn="ctr"/>
            <a:r>
              <a:rPr lang="en-US" sz="1400" b="1" dirty="0" err="1" smtClean="0">
                <a:solidFill>
                  <a:schemeClr val="tx1"/>
                </a:solidFill>
              </a:rPr>
              <a:t>InstituteID</a:t>
            </a:r>
            <a:r>
              <a:rPr lang="en-US" sz="1400" b="1" dirty="0" smtClean="0">
                <a:solidFill>
                  <a:schemeClr val="tx1"/>
                </a:solidFill>
              </a:rPr>
              <a:t> (PK)</a:t>
            </a:r>
          </a:p>
          <a:p>
            <a:pPr fontAlgn="ctr"/>
            <a:r>
              <a:rPr lang="en-US" sz="1400" b="1" dirty="0" err="1" smtClean="0">
                <a:solidFill>
                  <a:schemeClr val="tx1"/>
                </a:solidFill>
              </a:rPr>
              <a:t>FacultyID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b="1" dirty="0" smtClean="0">
                <a:solidFill>
                  <a:schemeClr val="tx1"/>
                </a:solidFill>
              </a:rPr>
              <a:t>(FK)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34786" y="309572"/>
            <a:ext cx="1280774" cy="68272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DEGREE</a:t>
            </a:r>
          </a:p>
          <a:p>
            <a:pPr fontAlgn="ctr"/>
            <a:r>
              <a:rPr lang="en-US" sz="1400" b="1" dirty="0" err="1" smtClean="0">
                <a:solidFill>
                  <a:schemeClr val="tx1"/>
                </a:solidFill>
              </a:rPr>
              <a:t>DegreeID</a:t>
            </a:r>
            <a:r>
              <a:rPr lang="en-US" sz="1400" b="1" dirty="0" smtClean="0">
                <a:solidFill>
                  <a:schemeClr val="tx1"/>
                </a:solidFill>
              </a:rPr>
              <a:t> (PK)</a:t>
            </a:r>
          </a:p>
          <a:p>
            <a:pPr fontAlgn="ctr"/>
            <a:r>
              <a:rPr lang="en-US" sz="1400" b="1" dirty="0" err="1" smtClean="0">
                <a:solidFill>
                  <a:schemeClr val="tx1"/>
                </a:solidFill>
              </a:rPr>
              <a:t>FacultyID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79379" y="1166553"/>
            <a:ext cx="1405541" cy="79940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PROGRAM FEES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FeeID</a:t>
            </a:r>
            <a:r>
              <a:rPr lang="en-US" sz="1400" b="1" dirty="0" smtClean="0">
                <a:solidFill>
                  <a:schemeClr val="tx1"/>
                </a:solidFill>
              </a:rPr>
              <a:t> (PK)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ProgramID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5441" y="1345276"/>
            <a:ext cx="1371600" cy="81880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PROGRAM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ProgramID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b="1" dirty="0" smtClean="0">
                <a:solidFill>
                  <a:schemeClr val="tx1"/>
                </a:solidFill>
              </a:rPr>
              <a:t>(PK)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DegreeID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09257" y="2989811"/>
            <a:ext cx="1400075" cy="72875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APPLICANT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ApplicantID</a:t>
            </a:r>
            <a:r>
              <a:rPr lang="en-US" sz="1400" b="1" dirty="0" smtClean="0">
                <a:solidFill>
                  <a:schemeClr val="tx1"/>
                </a:solidFill>
              </a:rPr>
              <a:t> (PK)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ProgrameID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59935" y="3629891"/>
            <a:ext cx="1452645" cy="66779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ADMISSION TEST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TestID</a:t>
            </a:r>
            <a:r>
              <a:rPr lang="en-US" sz="1400" b="1" dirty="0" smtClean="0">
                <a:solidFill>
                  <a:schemeClr val="tx1"/>
                </a:solidFill>
              </a:rPr>
              <a:t> (PK)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ProgramID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94919" y="1235824"/>
            <a:ext cx="1741909" cy="91301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TEST FEE PAYMENT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TestPaymentID</a:t>
            </a:r>
            <a:r>
              <a:rPr lang="en-US" sz="1400" b="1" dirty="0" smtClean="0">
                <a:solidFill>
                  <a:schemeClr val="tx1"/>
                </a:solidFill>
              </a:rPr>
              <a:t> (PK)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ApplicantID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TestID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81868" y="2829252"/>
            <a:ext cx="1532466" cy="105525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APPLICATION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ApplicationID</a:t>
            </a:r>
            <a:r>
              <a:rPr lang="en-US" sz="1400" b="1" dirty="0" smtClean="0">
                <a:solidFill>
                  <a:schemeClr val="tx1"/>
                </a:solidFill>
              </a:rPr>
              <a:t> (PK)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ProgramID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ApplicantID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FacultyID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60547" y="4846320"/>
            <a:ext cx="1412853" cy="6858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LOG IN</a:t>
            </a:r>
          </a:p>
          <a:p>
            <a:pPr algn="ctr" fontAlgn="ctr"/>
            <a:r>
              <a:rPr lang="en-US" sz="1400" b="1" u="sng" dirty="0" err="1" smtClean="0">
                <a:solidFill>
                  <a:schemeClr val="tx1"/>
                </a:solidFill>
              </a:rPr>
              <a:t>ApplicantID</a:t>
            </a:r>
            <a:r>
              <a:rPr lang="en-US" sz="1400" b="1" u="sng" dirty="0" smtClean="0">
                <a:solidFill>
                  <a:schemeClr val="tx1"/>
                </a:solidFill>
              </a:rPr>
              <a:t> (PK)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LoginID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85717" y="4958541"/>
            <a:ext cx="1598656" cy="103755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TEST COMPLETION </a:t>
            </a:r>
            <a:r>
              <a:rPr lang="en-US" sz="1400" b="1" dirty="0" smtClean="0">
                <a:solidFill>
                  <a:schemeClr val="tx1"/>
                </a:solidFill>
              </a:rPr>
              <a:t>STATUS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StatusID</a:t>
            </a:r>
            <a:endParaRPr lang="en-US" sz="1400" b="1" dirty="0" smtClean="0">
              <a:solidFill>
                <a:schemeClr val="tx1"/>
              </a:solidFill>
            </a:endParaRP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ApplicantID</a:t>
            </a:r>
            <a:endParaRPr lang="en-US" sz="1400" b="1" dirty="0" smtClean="0">
              <a:solidFill>
                <a:schemeClr val="tx1"/>
              </a:solidFill>
            </a:endParaRP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TestID</a:t>
            </a:r>
            <a:endParaRPr lang="en-US" sz="1400" b="1" dirty="0" smtClean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21188" y="5695604"/>
            <a:ext cx="1622519" cy="72890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ACADEMIC DETAILS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RegistrationID</a:t>
            </a:r>
            <a:r>
              <a:rPr lang="en-US" sz="1400" b="1" dirty="0" smtClean="0">
                <a:solidFill>
                  <a:schemeClr val="tx1"/>
                </a:solidFill>
              </a:rPr>
              <a:t> (PK)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ApplicationID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038" y="3577243"/>
            <a:ext cx="2239815" cy="64423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APPLICATION FEE PAYMENT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transactionID</a:t>
            </a:r>
            <a:r>
              <a:rPr lang="en-US" sz="1400" b="1" dirty="0" smtClean="0">
                <a:solidFill>
                  <a:schemeClr val="tx1"/>
                </a:solidFill>
              </a:rPr>
              <a:t> (PK)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ApplicationID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69105" y="2315094"/>
            <a:ext cx="1913467" cy="84127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MASTER DOCUMENTS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MDocumentID</a:t>
            </a:r>
            <a:r>
              <a:rPr lang="en-US" sz="1400" b="1" dirty="0" smtClean="0">
                <a:solidFill>
                  <a:schemeClr val="tx1"/>
                </a:solidFill>
              </a:rPr>
              <a:t> (PK)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AplicantID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DocumentID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02534" y="4498570"/>
            <a:ext cx="1788773" cy="88115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FORM COMPLETIONS </a:t>
            </a:r>
            <a:r>
              <a:rPr lang="en-US" sz="1400" b="1" dirty="0" smtClean="0">
                <a:solidFill>
                  <a:schemeClr val="tx1"/>
                </a:solidFill>
              </a:rPr>
              <a:t>STATUS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ApplicationID</a:t>
            </a:r>
            <a:r>
              <a:rPr lang="en-US" sz="1400" b="1" dirty="0" smtClean="0">
                <a:solidFill>
                  <a:schemeClr val="tx1"/>
                </a:solidFill>
              </a:rPr>
              <a:t> (PK)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CompletionID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79720" y="2392681"/>
            <a:ext cx="1524000" cy="9601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DOCUMENTS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DocumentID</a:t>
            </a:r>
            <a:r>
              <a:rPr lang="en-US" sz="1400" b="1" dirty="0" smtClean="0">
                <a:solidFill>
                  <a:schemeClr val="tx1"/>
                </a:solidFill>
              </a:rPr>
              <a:t> (PK)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ApplicantID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ApplicationID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cxnSp>
        <p:nvCxnSpPr>
          <p:cNvPr id="22" name="Straight Arrow Connector 21"/>
          <p:cNvCxnSpPr>
            <a:stCxn id="4" idx="3"/>
            <a:endCxn id="5" idx="1"/>
          </p:cNvCxnSpPr>
          <p:nvPr/>
        </p:nvCxnSpPr>
        <p:spPr>
          <a:xfrm>
            <a:off x="1440873" y="651164"/>
            <a:ext cx="565576" cy="74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5" idx="3"/>
            <a:endCxn id="6" idx="1"/>
          </p:cNvCxnSpPr>
          <p:nvPr/>
        </p:nvCxnSpPr>
        <p:spPr>
          <a:xfrm flipV="1">
            <a:off x="3322629" y="650933"/>
            <a:ext cx="512157" cy="7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105400" y="1005840"/>
            <a:ext cx="35052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7" idx="3"/>
            <a:endCxn id="8" idx="1"/>
          </p:cNvCxnSpPr>
          <p:nvPr/>
        </p:nvCxnSpPr>
        <p:spPr>
          <a:xfrm flipV="1">
            <a:off x="6797041" y="1566257"/>
            <a:ext cx="682338" cy="18842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2286000" y="1828800"/>
            <a:ext cx="3185160" cy="112776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3"/>
            <a:endCxn id="12" idx="1"/>
          </p:cNvCxnSpPr>
          <p:nvPr/>
        </p:nvCxnSpPr>
        <p:spPr>
          <a:xfrm>
            <a:off x="2709332" y="3354186"/>
            <a:ext cx="372536" cy="269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4434840" y="2651760"/>
            <a:ext cx="914400" cy="47244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4434840" y="2072640"/>
            <a:ext cx="1051560" cy="94488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16" idx="1"/>
          </p:cNvCxnSpPr>
          <p:nvPr/>
        </p:nvCxnSpPr>
        <p:spPr>
          <a:xfrm>
            <a:off x="4404360" y="3581400"/>
            <a:ext cx="733678" cy="31796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0" idx="3"/>
            <a:endCxn id="17" idx="1"/>
          </p:cNvCxnSpPr>
          <p:nvPr/>
        </p:nvCxnSpPr>
        <p:spPr>
          <a:xfrm flipV="1">
            <a:off x="6903720" y="2735734"/>
            <a:ext cx="765385" cy="13700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92297" y="3160221"/>
            <a:ext cx="1516674" cy="71581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/>
            <a:r>
              <a:rPr lang="en-US" sz="1400" b="1" u="sng" dirty="0" smtClean="0">
                <a:solidFill>
                  <a:schemeClr val="tx1"/>
                </a:solidFill>
              </a:rPr>
              <a:t>COUPONS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CouponCode</a:t>
            </a:r>
            <a:r>
              <a:rPr lang="en-US" sz="1400" b="1" dirty="0" smtClean="0">
                <a:solidFill>
                  <a:schemeClr val="tx1"/>
                </a:solidFill>
              </a:rPr>
              <a:t> (PK)</a:t>
            </a:r>
          </a:p>
          <a:p>
            <a:pPr algn="ctr" fontAlgn="ctr"/>
            <a:r>
              <a:rPr lang="en-US" sz="1400" b="1" dirty="0" err="1" smtClean="0">
                <a:solidFill>
                  <a:schemeClr val="tx1"/>
                </a:solidFill>
              </a:rPr>
              <a:t>ApplicantID</a:t>
            </a:r>
            <a:r>
              <a:rPr lang="en-US" sz="1400" b="1" dirty="0" smtClean="0">
                <a:solidFill>
                  <a:schemeClr val="tx1"/>
                </a:solidFill>
              </a:rPr>
              <a:t> (FK)</a:t>
            </a:r>
          </a:p>
        </p:txBody>
      </p:sp>
      <p:cxnSp>
        <p:nvCxnSpPr>
          <p:cNvPr id="45" name="Straight Arrow Connector 44"/>
          <p:cNvCxnSpPr>
            <a:endCxn id="18" idx="1"/>
          </p:cNvCxnSpPr>
          <p:nvPr/>
        </p:nvCxnSpPr>
        <p:spPr>
          <a:xfrm>
            <a:off x="4389120" y="3870960"/>
            <a:ext cx="1313414" cy="106818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12" idx="2"/>
            <a:endCxn id="15" idx="1"/>
          </p:cNvCxnSpPr>
          <p:nvPr/>
        </p:nvCxnSpPr>
        <p:spPr>
          <a:xfrm>
            <a:off x="3848101" y="3884507"/>
            <a:ext cx="2173087" cy="21755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13" idx="0"/>
          </p:cNvCxnSpPr>
          <p:nvPr/>
        </p:nvCxnSpPr>
        <p:spPr>
          <a:xfrm>
            <a:off x="2057400" y="3716867"/>
            <a:ext cx="309574" cy="112945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10" idx="1"/>
          </p:cNvCxnSpPr>
          <p:nvPr/>
        </p:nvCxnSpPr>
        <p:spPr>
          <a:xfrm>
            <a:off x="6675120" y="2164080"/>
            <a:ext cx="1084815" cy="179970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813560" y="345658"/>
            <a:ext cx="8153400" cy="2641382"/>
          </a:xfrm>
          <a:custGeom>
            <a:avLst/>
            <a:gdLst>
              <a:gd name="connsiteX0" fmla="*/ 0 w 8153400"/>
              <a:gd name="connsiteY0" fmla="*/ 2641382 h 2641382"/>
              <a:gd name="connsiteX1" fmla="*/ 6141720 w 8153400"/>
              <a:gd name="connsiteY1" fmla="*/ 50582 h 2641382"/>
              <a:gd name="connsiteX2" fmla="*/ 8153400 w 8153400"/>
              <a:gd name="connsiteY2" fmla="*/ 934502 h 2641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53400" h="2641382">
                <a:moveTo>
                  <a:pt x="0" y="2641382"/>
                </a:moveTo>
                <a:cubicBezTo>
                  <a:pt x="2391410" y="1488222"/>
                  <a:pt x="4782820" y="335062"/>
                  <a:pt x="6141720" y="50582"/>
                </a:cubicBezTo>
                <a:cubicBezTo>
                  <a:pt x="7500620" y="-233898"/>
                  <a:pt x="7815580" y="766862"/>
                  <a:pt x="8153400" y="934502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56"/>
          <p:cNvSpPr/>
          <p:nvPr/>
        </p:nvSpPr>
        <p:spPr>
          <a:xfrm>
            <a:off x="1844040" y="3688080"/>
            <a:ext cx="7924800" cy="2971800"/>
          </a:xfrm>
          <a:custGeom>
            <a:avLst/>
            <a:gdLst>
              <a:gd name="connsiteX0" fmla="*/ 0 w 7299960"/>
              <a:gd name="connsiteY0" fmla="*/ 0 h 2823942"/>
              <a:gd name="connsiteX1" fmla="*/ 4297680 w 7299960"/>
              <a:gd name="connsiteY1" fmla="*/ 2773680 h 2823942"/>
              <a:gd name="connsiteX2" fmla="*/ 7299960 w 7299960"/>
              <a:gd name="connsiteY2" fmla="*/ 1859280 h 2823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99960" h="2823942">
                <a:moveTo>
                  <a:pt x="0" y="0"/>
                </a:moveTo>
                <a:cubicBezTo>
                  <a:pt x="1540510" y="1231900"/>
                  <a:pt x="3081020" y="2463800"/>
                  <a:pt x="4297680" y="2773680"/>
                </a:cubicBezTo>
                <a:cubicBezTo>
                  <a:pt x="5514340" y="3083560"/>
                  <a:pt x="7299960" y="1859280"/>
                  <a:pt x="7299960" y="185928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2225040" y="457200"/>
            <a:ext cx="8475617" cy="2699657"/>
          </a:xfrm>
          <a:custGeom>
            <a:avLst/>
            <a:gdLst>
              <a:gd name="connsiteX0" fmla="*/ 0 w 8869680"/>
              <a:gd name="connsiteY0" fmla="*/ 2698362 h 2942202"/>
              <a:gd name="connsiteX1" fmla="*/ 5303520 w 8869680"/>
              <a:gd name="connsiteY1" fmla="*/ 882 h 2942202"/>
              <a:gd name="connsiteX2" fmla="*/ 8869680 w 8869680"/>
              <a:gd name="connsiteY2" fmla="*/ 2942202 h 2942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69680" h="2942202">
                <a:moveTo>
                  <a:pt x="0" y="2698362"/>
                </a:moveTo>
                <a:cubicBezTo>
                  <a:pt x="1912620" y="1329302"/>
                  <a:pt x="3825240" y="-39758"/>
                  <a:pt x="5303520" y="882"/>
                </a:cubicBezTo>
                <a:cubicBezTo>
                  <a:pt x="6781800" y="41522"/>
                  <a:pt x="8313420" y="2487542"/>
                  <a:pt x="8869680" y="2942202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4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303338"/>
            <a:ext cx="10928350" cy="2852737"/>
          </a:xfrm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sz="66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ENTITY </a:t>
            </a:r>
            <a:r>
              <a:rPr lang="en-US" sz="66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RELATIONSHIP ANALYSIS</a:t>
            </a:r>
            <a:r>
              <a:rPr lang="en-US" sz="66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/>
            </a:r>
            <a:br>
              <a:rPr lang="en-US" sz="66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en-US" sz="66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	</a:t>
            </a:r>
            <a:r>
              <a:rPr lang="en-US" sz="66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		(</a:t>
            </a:r>
            <a:r>
              <a:rPr lang="en-US" sz="66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ER-Analysis)</a:t>
            </a:r>
            <a:endParaRPr lang="en-US" sz="66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14943" y="4835235"/>
            <a:ext cx="1579421" cy="73429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mond 3"/>
          <p:cNvSpPr/>
          <p:nvPr/>
        </p:nvSpPr>
        <p:spPr>
          <a:xfrm>
            <a:off x="4987637" y="4793673"/>
            <a:ext cx="1205345" cy="858982"/>
          </a:xfrm>
          <a:prstGeom prst="diamond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523018" y="4918364"/>
            <a:ext cx="1482437" cy="69272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3" idx="3"/>
          </p:cNvCxnSpPr>
          <p:nvPr/>
        </p:nvCxnSpPr>
        <p:spPr>
          <a:xfrm>
            <a:off x="3394364" y="5202380"/>
            <a:ext cx="1496291" cy="6929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3"/>
          </p:cNvCxnSpPr>
          <p:nvPr/>
        </p:nvCxnSpPr>
        <p:spPr>
          <a:xfrm flipV="1">
            <a:off x="6192982" y="5209309"/>
            <a:ext cx="1302327" cy="13855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92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671415"/>
              </p:ext>
            </p:extLst>
          </p:nvPr>
        </p:nvGraphicFramePr>
        <p:xfrm>
          <a:off x="166253" y="234757"/>
          <a:ext cx="11776364" cy="640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4091"/>
                <a:gridCol w="2944091"/>
                <a:gridCol w="2944091"/>
                <a:gridCol w="294409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Parent Entity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Child Entity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Relationship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Institute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Faculty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1-to-Many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One institute can have many faculties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Faculty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Degree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1-to-many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One faculty offers multiple degrees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Degree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Program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1-to-many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degree can have multiple programs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Program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Admission 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1-to-many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program can have multiple admission tests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Program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Application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1-to-many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program can receive many applications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Program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Applicant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1-to-many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One program can </a:t>
                      </a:r>
                      <a:r>
                        <a:rPr lang="en-US" dirty="0" err="1" smtClean="0"/>
                        <a:t>hve</a:t>
                      </a:r>
                      <a:r>
                        <a:rPr lang="en-US" dirty="0" smtClean="0"/>
                        <a:t> many admitted applicant(student)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Applicant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1-to-1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One</a:t>
                      </a:r>
                      <a:r>
                        <a:rPr lang="en-US" baseline="0" dirty="0" smtClean="0"/>
                        <a:t> applicant can apply to one application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Application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AcademicDetails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1-to-many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One application</a:t>
                      </a:r>
                      <a:r>
                        <a:rPr lang="en-US" baseline="0" dirty="0" smtClean="0"/>
                        <a:t> can have multiple academic qualifications.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3133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104090"/>
              </p:ext>
            </p:extLst>
          </p:nvPr>
        </p:nvGraphicFramePr>
        <p:xfrm>
          <a:off x="166254" y="525708"/>
          <a:ext cx="11776364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4091"/>
                <a:gridCol w="2944091"/>
                <a:gridCol w="2944091"/>
                <a:gridCol w="294409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Parent Entity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Child Entity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Relationship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Application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Application </a:t>
                      </a:r>
                      <a:r>
                        <a:rPr lang="en-US" dirty="0" err="1" smtClean="0"/>
                        <a:t>FeePayment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1-to-1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Pne</a:t>
                      </a:r>
                      <a:r>
                        <a:rPr lang="en-US" dirty="0" smtClean="0"/>
                        <a:t> application may have one fee payments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Admission 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Test fee payment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1-to-many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One </a:t>
                      </a:r>
                      <a:r>
                        <a:rPr lang="en-US" dirty="0" err="1" smtClean="0"/>
                        <a:t>tes</a:t>
                      </a:r>
                      <a:r>
                        <a:rPr lang="en-US" dirty="0" smtClean="0"/>
                        <a:t> can be paid for many applicants(student)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Admission 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Test completion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1-to-many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One test will have</a:t>
                      </a:r>
                      <a:r>
                        <a:rPr lang="en-US" baseline="0" dirty="0" smtClean="0"/>
                        <a:t> completion records from many applicants(students)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Applicant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Testcompletion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1-to-1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One applicant</a:t>
                      </a:r>
                      <a:r>
                        <a:rPr lang="en-US" baseline="0" dirty="0" smtClean="0"/>
                        <a:t> can appear for only one test at a time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Applicant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testFeepayment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1-to-1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applicant</a:t>
                      </a:r>
                      <a:r>
                        <a:rPr lang="en-US" baseline="0" dirty="0" smtClean="0"/>
                        <a:t> has one test fee payment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Applicant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Documents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1-to-many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One applicant may have multiple documents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Applicant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Coupons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1-to-1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One applicant may have only</a:t>
                      </a:r>
                      <a:r>
                        <a:rPr lang="en-US" baseline="0" dirty="0" smtClean="0"/>
                        <a:t> one coupon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3608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87</TotalTime>
  <Words>355</Words>
  <Application>Microsoft Office PowerPoint</Application>
  <PresentationFormat>Widescreen</PresentationFormat>
  <Paragraphs>126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ENTITY RELATIONSHIP DIAGRAM    (ER-Diagram)</vt:lpstr>
      <vt:lpstr>PowerPoint Presentation</vt:lpstr>
      <vt:lpstr>ENTITY RELATIONSHIP ANALYSIS    (ER-Analysis)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soni</dc:creator>
  <cp:lastModifiedBy>soni</cp:lastModifiedBy>
  <cp:revision>12</cp:revision>
  <dcterms:created xsi:type="dcterms:W3CDTF">2025-07-09T02:42:27Z</dcterms:created>
  <dcterms:modified xsi:type="dcterms:W3CDTF">2025-07-09T04:16:27Z</dcterms:modified>
</cp:coreProperties>
</file>